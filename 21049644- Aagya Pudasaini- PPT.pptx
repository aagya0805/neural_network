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5" r:id="rId4"/>
  </p:sldMasterIdLst>
  <p:sldIdLst>
    <p:sldId id="343" r:id="rId5"/>
    <p:sldId id="284" r:id="rId6"/>
    <p:sldId id="342" r:id="rId7"/>
    <p:sldId id="267" r:id="rId8"/>
    <p:sldId id="351" r:id="rId9"/>
    <p:sldId id="352" r:id="rId10"/>
    <p:sldId id="268" r:id="rId11"/>
    <p:sldId id="355" r:id="rId12"/>
    <p:sldId id="357" r:id="rId13"/>
    <p:sldId id="358" r:id="rId14"/>
    <p:sldId id="350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4" autoAdjust="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4217870" y="0"/>
            <a:ext cx="3599236" cy="68579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70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>
            <a:extLst>
              <a:ext uri="{FF2B5EF4-FFF2-40B4-BE49-F238E27FC236}">
                <a16:creationId xmlns:a16="http://schemas.microsoft.com/office/drawing/2014/main" id="{64248D99-2B30-464D-B9B7-4E5C3A1F3FB2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3FAFF55B-FDE6-394B-A39B-22627D8FB6E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9E345E4-E77C-484E-9FBB-E4EC71F08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22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83ACCAC0-2C8A-CE43-8C55-22BB53C73920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4076461-FF7A-8843-B7F9-D041F3FB2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39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29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754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4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>
                <a:solidFill>
                  <a:schemeClr val="tx1"/>
                </a:solidFill>
              </a:defRPr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942871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73589"/>
            <a:ext cx="5711810" cy="3941540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21039"/>
            <a:ext cx="4589130" cy="5603086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03250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2/2/2026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75" r:id="rId3"/>
    <p:sldLayoutId id="2147483684" r:id="rId4"/>
    <p:sldLayoutId id="2147483678" r:id="rId5"/>
    <p:sldLayoutId id="2147483688" r:id="rId6"/>
    <p:sldLayoutId id="2147483679" r:id="rId7"/>
    <p:sldLayoutId id="2147483692" r:id="rId8"/>
    <p:sldLayoutId id="2147483691" r:id="rId9"/>
    <p:sldLayoutId id="2147483690" r:id="rId10"/>
    <p:sldLayoutId id="2147483689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1237488"/>
            <a:ext cx="9520324" cy="2362962"/>
          </a:xfrm>
        </p:spPr>
        <p:txBody>
          <a:bodyPr>
            <a:normAutofit fontScale="90000"/>
          </a:bodyPr>
          <a:lstStyle/>
          <a:p>
            <a:r>
              <a:rPr lang="en-US" dirty="0"/>
              <a:t>Multimodal Sentiment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16502"/>
            <a:ext cx="6024649" cy="587582"/>
          </a:xfrm>
        </p:spPr>
        <p:txBody>
          <a:bodyPr/>
          <a:lstStyle/>
          <a:p>
            <a:r>
              <a:rPr lang="en-US" dirty="0"/>
              <a:t>Presented by: Aagya Pudasaini</a:t>
            </a:r>
          </a:p>
        </p:txBody>
      </p:sp>
    </p:spTree>
    <p:extLst>
      <p:ext uri="{BB962C8B-B14F-4D97-AF65-F5344CB8AC3E}">
        <p14:creationId xmlns:p14="http://schemas.microsoft.com/office/powerpoint/2010/main" val="18333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0900CD-B943-934F-857F-30AA913F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027" y="716727"/>
            <a:ext cx="2894983" cy="1292750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09EEBC-5E2C-D240-A5D6-6952B8392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8657" y="1683198"/>
            <a:ext cx="5445680" cy="4541852"/>
          </a:xfrm>
        </p:spPr>
        <p:txBody>
          <a:bodyPr anchor="ctr">
            <a:normAutofit fontScale="92500" lnSpcReduction="10000"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Sentiment analysis is a key task in </a:t>
            </a:r>
            <a:r>
              <a:rPr lang="en-US" b="1" dirty="0"/>
              <a:t>Natural Language Processing (NLP)</a:t>
            </a:r>
            <a:r>
              <a:rPr lang="en-US" dirty="0"/>
              <a:t>, widely used in:</a:t>
            </a:r>
          </a:p>
          <a:p>
            <a:pPr marL="669798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Social media analytics</a:t>
            </a:r>
          </a:p>
          <a:p>
            <a:pPr marL="669798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Brand reputation monitoring</a:t>
            </a:r>
          </a:p>
          <a:p>
            <a:pPr marL="669798" lvl="2" indent="-285750" algn="just">
              <a:buFont typeface="Wingdings" panose="05000000000000000000" pitchFamily="2" charset="2"/>
              <a:buChar char="q"/>
            </a:pPr>
            <a:r>
              <a:rPr lang="en-US" dirty="0"/>
              <a:t>Public opinion and trend analysis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With the growth of platforms such as </a:t>
            </a:r>
            <a:r>
              <a:rPr lang="en-US" b="1" dirty="0"/>
              <a:t>Twitter, Instagram, and Facebook</a:t>
            </a:r>
            <a:r>
              <a:rPr lang="en-US" dirty="0"/>
              <a:t>, users increasingly express opinions using </a:t>
            </a:r>
            <a:r>
              <a:rPr lang="en-US" b="1" dirty="0"/>
              <a:t>both text and images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Traditional sentiment analysis systems mainly rely on </a:t>
            </a:r>
            <a:r>
              <a:rPr lang="en-US" b="1" dirty="0"/>
              <a:t>textual data</a:t>
            </a:r>
            <a:r>
              <a:rPr lang="en-US" dirty="0"/>
              <a:t>, ignoring visual cues that often carry emotional meaning.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Advances in </a:t>
            </a:r>
            <a:r>
              <a:rPr lang="en-US" b="1" dirty="0"/>
              <a:t>Deep Learning</a:t>
            </a:r>
            <a:r>
              <a:rPr lang="en-US" dirty="0"/>
              <a:t>, particularly </a:t>
            </a:r>
            <a:r>
              <a:rPr lang="en-US" b="1" dirty="0"/>
              <a:t>Transformers</a:t>
            </a:r>
            <a:r>
              <a:rPr lang="en-US" dirty="0"/>
              <a:t> and </a:t>
            </a:r>
            <a:r>
              <a:rPr lang="en-US" b="1" dirty="0"/>
              <a:t>Convolutional Neural Networks (CNNs)</a:t>
            </a:r>
            <a:r>
              <a:rPr lang="en-US" dirty="0"/>
              <a:t>, enable AI systems to process multiple data modalities simultaneously.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This project explores how </a:t>
            </a:r>
            <a:r>
              <a:rPr lang="en-US" b="1" dirty="0"/>
              <a:t>multimodal learning</a:t>
            </a:r>
            <a:r>
              <a:rPr lang="en-US" dirty="0"/>
              <a:t> can improve sentiment understanding by mimicking how humans interpret content holistically.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95703F2-447C-4AE6-A83D-72C2A71C7C5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385" r="24385"/>
          <a:stretch>
            <a:fillRect/>
          </a:stretch>
        </p:blipFill>
        <p:spPr>
          <a:xfrm>
            <a:off x="6416844" y="633875"/>
            <a:ext cx="5140156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5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59CD-1242-F149-AB16-9D02E7C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956" y="803171"/>
            <a:ext cx="5711810" cy="587584"/>
          </a:xfrm>
        </p:spPr>
        <p:txBody>
          <a:bodyPr/>
          <a:lstStyle/>
          <a:p>
            <a:pPr algn="ctr"/>
            <a:r>
              <a:rPr lang="en-US" b="1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7D95-D925-3641-A715-DB7630E98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69" y="1354115"/>
            <a:ext cx="5929983" cy="4405002"/>
          </a:xfrm>
        </p:spPr>
        <p:txBody>
          <a:bodyPr>
            <a:noAutofit/>
          </a:bodyPr>
          <a:lstStyle/>
          <a:p>
            <a:pPr marL="46863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b="1" dirty="0"/>
              <a:t>Unimodal sentiment analysis models</a:t>
            </a:r>
            <a:r>
              <a:rPr lang="en-US" sz="1400" dirty="0"/>
              <a:t> fail to capture the true emotional intent when sentiment depends on </a:t>
            </a:r>
            <a:r>
              <a:rPr lang="en-US" sz="1400" b="1" dirty="0"/>
              <a:t>context beyond text</a:t>
            </a:r>
            <a:r>
              <a:rPr lang="en-US" sz="1400" dirty="0"/>
              <a:t>.</a:t>
            </a:r>
          </a:p>
          <a:p>
            <a:pPr marL="46863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b="1" dirty="0"/>
              <a:t>Text alone can be:</a:t>
            </a:r>
          </a:p>
          <a:p>
            <a:pPr marL="720090" lvl="3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Ambiguous</a:t>
            </a:r>
          </a:p>
          <a:p>
            <a:pPr marL="720090" lvl="3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Sarcastic</a:t>
            </a:r>
          </a:p>
          <a:p>
            <a:pPr marL="720090" lvl="3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Misleading without visual reference</a:t>
            </a:r>
          </a:p>
          <a:p>
            <a:pPr marL="46863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b="1" dirty="0"/>
              <a:t>Existing models struggle to:</a:t>
            </a:r>
          </a:p>
          <a:p>
            <a:pPr marL="720090" lvl="3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Integrate </a:t>
            </a:r>
            <a:r>
              <a:rPr lang="en-US" sz="1400" b="1" dirty="0"/>
              <a:t>high-dimensional image features</a:t>
            </a:r>
            <a:r>
              <a:rPr lang="en-US" sz="1400" dirty="0"/>
              <a:t> with </a:t>
            </a:r>
            <a:r>
              <a:rPr lang="en-US" sz="1400" b="1" dirty="0"/>
              <a:t>contextual text embeddings</a:t>
            </a:r>
            <a:endParaRPr lang="en-US" sz="1400" dirty="0"/>
          </a:p>
          <a:p>
            <a:pPr marL="720090" lvl="3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Maintain performance with </a:t>
            </a:r>
            <a:r>
              <a:rPr lang="en-US" sz="1400" b="1" dirty="0"/>
              <a:t>limited labelled data</a:t>
            </a:r>
            <a:endParaRPr lang="en-US" sz="1400" dirty="0"/>
          </a:p>
          <a:p>
            <a:pPr marL="720090" lvl="3" indent="-1714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Generalize across diverse social media scenarios</a:t>
            </a:r>
          </a:p>
          <a:p>
            <a:pPr marL="468630" indent="-285750">
              <a:lnSpc>
                <a:spcPct val="120000"/>
              </a:lnSpc>
              <a:buFont typeface="Wingdings" panose="05000000000000000000" pitchFamily="2" charset="2"/>
              <a:buChar char="q"/>
            </a:pPr>
            <a:r>
              <a:rPr lang="en-US" sz="1400" b="1" dirty="0"/>
              <a:t>Core Research Problem:</a:t>
            </a:r>
            <a:br>
              <a:rPr lang="en-US" sz="1400" dirty="0"/>
            </a:br>
            <a:r>
              <a:rPr lang="en-US" sz="1400" dirty="0"/>
              <a:t>How can textual and visual features be </a:t>
            </a:r>
            <a:r>
              <a:rPr lang="en-US" sz="1400" b="1" dirty="0"/>
              <a:t>effectively fused</a:t>
            </a:r>
            <a:r>
              <a:rPr lang="en-US" sz="1400" dirty="0"/>
              <a:t> to improve sentiment classification accuracy and robustness?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38B8A3B-6BD3-406A-AFCF-54814D38316A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 rotWithShape="1">
          <a:blip r:embed="rId2"/>
          <a:srcRect l="3947" r="7778"/>
          <a:stretch/>
        </p:blipFill>
        <p:spPr>
          <a:xfrm>
            <a:off x="818147" y="1898441"/>
            <a:ext cx="4523875" cy="335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0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7245-B0E5-484F-88D0-FA9D0C77C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556" y="1003426"/>
            <a:ext cx="3538888" cy="693424"/>
          </a:xfrm>
        </p:spPr>
        <p:txBody>
          <a:bodyPr/>
          <a:lstStyle/>
          <a:p>
            <a:pPr algn="ctr"/>
            <a:r>
              <a:rPr lang="en-US" b="1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64010-AA92-45A2-AFDE-F7A107CA6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4611" y="1835485"/>
            <a:ext cx="9107347" cy="4019089"/>
          </a:xfrm>
        </p:spPr>
        <p:txBody>
          <a:bodyPr>
            <a:normAutofit fontScale="92500" lnSpcReduction="10000"/>
          </a:bodyPr>
          <a:lstStyle/>
          <a:p>
            <a:pPr marL="525780" indent="-3429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/>
              <a:t>Source:</a:t>
            </a:r>
            <a:r>
              <a:rPr lang="en-US" dirty="0"/>
              <a:t> Public Multimodal Sentiment Dataset (Figshare Repository)</a:t>
            </a:r>
          </a:p>
          <a:p>
            <a:pPr marL="525780" indent="-3429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/>
              <a:t>Contains: </a:t>
            </a:r>
            <a:r>
              <a:rPr lang="en-US" dirty="0"/>
              <a:t>Image + caption pairs</a:t>
            </a:r>
          </a:p>
          <a:p>
            <a:pPr marL="525780" indent="-3429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/>
              <a:t>Total Samples:</a:t>
            </a:r>
            <a:r>
              <a:rPr lang="en-US" dirty="0"/>
              <a:t> ~3,594 image–text pairs</a:t>
            </a:r>
          </a:p>
          <a:p>
            <a:pPr marL="525780" indent="-3429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/>
              <a:t>Sentiment Labels:</a:t>
            </a:r>
            <a:r>
              <a:rPr lang="en-US" dirty="0"/>
              <a:t> Positive, Neutral, Negative</a:t>
            </a:r>
          </a:p>
          <a:p>
            <a:pPr marL="525780" indent="-3429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/>
              <a:t>Annotation Type:</a:t>
            </a:r>
            <a:r>
              <a:rPr lang="en-US" dirty="0"/>
              <a:t> Human-labelled sentiment classes</a:t>
            </a:r>
          </a:p>
          <a:p>
            <a:pPr marL="525780" indent="-34290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b="1" dirty="0"/>
              <a:t>Motivation for Use:</a:t>
            </a:r>
            <a:r>
              <a:rPr lang="en-US" dirty="0"/>
              <a:t> Suitable for evaluating multimodal sentiment fusion under limited data conditions</a:t>
            </a:r>
          </a:p>
          <a:p>
            <a:pPr marL="274320" algn="just">
              <a:buClrTx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8DF674-7A8D-44A3-A7E6-6D6F442FCBBF}"/>
              </a:ext>
            </a:extLst>
          </p:cNvPr>
          <p:cNvSpPr txBox="1">
            <a:spLocks/>
          </p:cNvSpPr>
          <p:nvPr/>
        </p:nvSpPr>
        <p:spPr>
          <a:xfrm>
            <a:off x="5935579" y="1835485"/>
            <a:ext cx="5059680" cy="44530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2A37C3-9DBE-44B3-8856-67B5C16B07EF}"/>
              </a:ext>
            </a:extLst>
          </p:cNvPr>
          <p:cNvSpPr/>
          <p:nvPr/>
        </p:nvSpPr>
        <p:spPr>
          <a:xfrm>
            <a:off x="8373061" y="942871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62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D9F25A-1355-44F8-833B-8461506EC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00" y="1530455"/>
            <a:ext cx="7848599" cy="4384674"/>
          </a:xfrm>
        </p:spPr>
        <p:txBody>
          <a:bodyPr>
            <a:normAutofit fontScale="92500" lnSpcReduction="10000"/>
          </a:bodyPr>
          <a:lstStyle/>
          <a:p>
            <a:pPr marL="525780" indent="-342900">
              <a:lnSpc>
                <a:spcPct val="150000"/>
              </a:lnSpc>
              <a:buClrTx/>
              <a:buFont typeface="Wingdings" panose="05000000000000000000" pitchFamily="2" charset="2"/>
              <a:buChar char="q"/>
            </a:pPr>
            <a:r>
              <a:rPr lang="en-US" b="1" dirty="0"/>
              <a:t>Text Analysis</a:t>
            </a:r>
          </a:p>
          <a:p>
            <a:pPr marL="65151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Average caption length: </a:t>
            </a:r>
            <a:r>
              <a:rPr lang="en-US" sz="1800" dirty="0"/>
              <a:t>~12 words</a:t>
            </a:r>
          </a:p>
          <a:p>
            <a:pPr marL="65151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Frequent sentiment-related terms identified via WordCloud</a:t>
            </a:r>
            <a:endParaRPr lang="en-US" sz="1600" dirty="0"/>
          </a:p>
          <a:p>
            <a:pPr marL="525780" indent="-342900">
              <a:lnSpc>
                <a:spcPct val="150000"/>
              </a:lnSpc>
              <a:buClrTx/>
              <a:buFont typeface="Wingdings" panose="05000000000000000000" pitchFamily="2" charset="2"/>
              <a:buChar char="q"/>
            </a:pPr>
            <a:r>
              <a:rPr lang="en-US" b="1" dirty="0"/>
              <a:t>Image Analysis</a:t>
            </a:r>
          </a:p>
          <a:p>
            <a:pPr marL="65151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RGB intensity and brightness patterns vary across sentiment labels</a:t>
            </a:r>
          </a:p>
          <a:p>
            <a:pPr marL="525780" indent="-342900">
              <a:lnSpc>
                <a:spcPct val="150000"/>
              </a:lnSpc>
              <a:buClrTx/>
              <a:buFont typeface="Wingdings" panose="05000000000000000000" pitchFamily="2" charset="2"/>
              <a:buChar char="q"/>
            </a:pPr>
            <a:r>
              <a:rPr lang="en-US" b="1" dirty="0"/>
              <a:t>Data Splitting</a:t>
            </a:r>
          </a:p>
          <a:p>
            <a:pPr marL="65151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Stratified Train / Validation / Test split</a:t>
            </a:r>
          </a:p>
          <a:p>
            <a:pPr marL="65151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Total dataset</a:t>
            </a:r>
            <a:r>
              <a:rPr lang="en-US" sz="1800" dirty="0"/>
              <a:t>: 3594, </a:t>
            </a:r>
            <a:r>
              <a:rPr lang="en-US" sz="1800" b="1" dirty="0"/>
              <a:t>Training set</a:t>
            </a:r>
            <a:r>
              <a:rPr lang="en-US" sz="1800" dirty="0"/>
              <a:t>: 2875, </a:t>
            </a:r>
            <a:r>
              <a:rPr lang="en-US" sz="1800" b="1" dirty="0"/>
              <a:t>Test Set: </a:t>
            </a:r>
            <a:r>
              <a:rPr lang="en-US" sz="1800" dirty="0"/>
              <a:t>719</a:t>
            </a:r>
          </a:p>
          <a:p>
            <a:pPr marL="65151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/>
              <a:t>Ensured balanced class distribution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E07670-93E1-49B7-B65F-AF16980E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EXPLORATORY DATA ANALYSIS  (EDA)</a:t>
            </a:r>
          </a:p>
        </p:txBody>
      </p:sp>
    </p:spTree>
    <p:extLst>
      <p:ext uri="{BB962C8B-B14F-4D97-AF65-F5344CB8AC3E}">
        <p14:creationId xmlns:p14="http://schemas.microsoft.com/office/powerpoint/2010/main" val="202195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2D165B-C002-4884-910E-C74EB8761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7130" y="2125705"/>
            <a:ext cx="7577740" cy="30879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52DA0C-F6A4-4B9C-8F3B-BA547D5B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DISTRIBUTION CHECK</a:t>
            </a:r>
          </a:p>
        </p:txBody>
      </p:sp>
    </p:spTree>
    <p:extLst>
      <p:ext uri="{BB962C8B-B14F-4D97-AF65-F5344CB8AC3E}">
        <p14:creationId xmlns:p14="http://schemas.microsoft.com/office/powerpoint/2010/main" val="29440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SmartArt Process diagram">
            <a:extLst>
              <a:ext uri="{FF2B5EF4-FFF2-40B4-BE49-F238E27FC236}">
                <a16:creationId xmlns:a16="http://schemas.microsoft.com/office/drawing/2014/main" id="{8AFB2D93-1B14-4677-A7E3-8577C533E2A9}"/>
              </a:ext>
            </a:extLst>
          </p:cNvPr>
          <p:cNvGrpSpPr/>
          <p:nvPr/>
        </p:nvGrpSpPr>
        <p:grpSpPr>
          <a:xfrm>
            <a:off x="804239" y="1768209"/>
            <a:ext cx="10778161" cy="3691950"/>
            <a:chOff x="1076474" y="2099250"/>
            <a:chExt cx="7583287" cy="265950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B644461-A3CA-4538-8227-8955F5BC9E81}"/>
                </a:ext>
              </a:extLst>
            </p:cNvPr>
            <p:cNvSpPr/>
            <p:nvPr/>
          </p:nvSpPr>
          <p:spPr>
            <a:xfrm>
              <a:off x="1076474" y="2099250"/>
              <a:ext cx="2671762" cy="864000"/>
            </a:xfrm>
            <a:custGeom>
              <a:avLst/>
              <a:gdLst>
                <a:gd name="connsiteX0" fmla="*/ 0 w 2671762"/>
                <a:gd name="connsiteY0" fmla="*/ 0 h 864000"/>
                <a:gd name="connsiteX1" fmla="*/ 2239762 w 2671762"/>
                <a:gd name="connsiteY1" fmla="*/ 0 h 864000"/>
                <a:gd name="connsiteX2" fmla="*/ 2671762 w 2671762"/>
                <a:gd name="connsiteY2" fmla="*/ 432000 h 864000"/>
                <a:gd name="connsiteX3" fmla="*/ 2239762 w 2671762"/>
                <a:gd name="connsiteY3" fmla="*/ 864000 h 864000"/>
                <a:gd name="connsiteX4" fmla="*/ 0 w 2671762"/>
                <a:gd name="connsiteY4" fmla="*/ 864000 h 864000"/>
                <a:gd name="connsiteX5" fmla="*/ 432000 w 2671762"/>
                <a:gd name="connsiteY5" fmla="*/ 432000 h 864000"/>
                <a:gd name="connsiteX6" fmla="*/ 0 w 2671762"/>
                <a:gd name="connsiteY6" fmla="*/ 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1762" h="864000">
                  <a:moveTo>
                    <a:pt x="0" y="0"/>
                  </a:moveTo>
                  <a:lnTo>
                    <a:pt x="2239762" y="0"/>
                  </a:lnTo>
                  <a:lnTo>
                    <a:pt x="2671762" y="432000"/>
                  </a:lnTo>
                  <a:lnTo>
                    <a:pt x="2239762" y="864000"/>
                  </a:lnTo>
                  <a:lnTo>
                    <a:pt x="0" y="864000"/>
                  </a:lnTo>
                  <a:lnTo>
                    <a:pt x="432000" y="432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6008" tIns="21336" rIns="453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/>
                <a:t>TEXT MODEL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DB0156-EF53-4965-A850-3E834F195F91}"/>
                </a:ext>
              </a:extLst>
            </p:cNvPr>
            <p:cNvSpPr/>
            <p:nvPr/>
          </p:nvSpPr>
          <p:spPr>
            <a:xfrm>
              <a:off x="1230040" y="2832784"/>
              <a:ext cx="2137410" cy="1687500"/>
            </a:xfrm>
            <a:custGeom>
              <a:avLst/>
              <a:gdLst>
                <a:gd name="connsiteX0" fmla="*/ 0 w 2137410"/>
                <a:gd name="connsiteY0" fmla="*/ 0 h 1687500"/>
                <a:gd name="connsiteX1" fmla="*/ 2137410 w 2137410"/>
                <a:gd name="connsiteY1" fmla="*/ 0 h 1687500"/>
                <a:gd name="connsiteX2" fmla="*/ 2137410 w 2137410"/>
                <a:gd name="connsiteY2" fmla="*/ 1687500 h 1687500"/>
                <a:gd name="connsiteX3" fmla="*/ 0 w 2137410"/>
                <a:gd name="connsiteY3" fmla="*/ 1687500 h 1687500"/>
                <a:gd name="connsiteX4" fmla="*/ 0 w 2137410"/>
                <a:gd name="connsiteY4" fmla="*/ 0 h 16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410" h="1687500">
                  <a:moveTo>
                    <a:pt x="0" y="0"/>
                  </a:moveTo>
                  <a:lnTo>
                    <a:pt x="2137410" y="0"/>
                  </a:lnTo>
                  <a:lnTo>
                    <a:pt x="2137410" y="1687500"/>
                  </a:lnTo>
                  <a:lnTo>
                    <a:pt x="0" y="1687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432000" rIns="182880" bIns="0" numCol="1" spcCol="1270" anchor="t" anchorCtr="0">
              <a:noAutofit/>
            </a:bodyPr>
            <a:lstStyle/>
            <a:p>
              <a:pPr marL="285750" lvl="0" indent="-285750" defTabSz="533400">
                <a:lnSpc>
                  <a:spcPct val="15000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+mj-lt"/>
                </a:rPr>
                <a:t>Embedding Size: </a:t>
              </a:r>
              <a:r>
                <a:rPr lang="en-US" sz="1600" dirty="0">
                  <a:latin typeface="+mj-lt"/>
                </a:rPr>
                <a:t>768 </a:t>
              </a:r>
            </a:p>
            <a:p>
              <a:pPr marL="285750" lvl="0" indent="-285750" defTabSz="533400">
                <a:lnSpc>
                  <a:spcPct val="15000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+mj-lt"/>
                </a:rPr>
                <a:t>Max Token Length</a:t>
              </a:r>
              <a:r>
                <a:rPr lang="en-US" sz="1600" dirty="0">
                  <a:latin typeface="+mj-lt"/>
                </a:rPr>
                <a:t>: 128</a:t>
              </a:r>
            </a:p>
            <a:p>
              <a:pPr marL="285750" lvl="0" indent="-285750" defTabSz="533400">
                <a:lnSpc>
                  <a:spcPct val="150000"/>
                </a:lnSpc>
                <a:spcBef>
                  <a:spcPct val="0"/>
                </a:spcBef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+mj-lt"/>
                </a:rPr>
                <a:t>Pre-trained Transformer weights</a:t>
              </a:r>
              <a:endParaRPr lang="en-US" sz="1600" kern="1200" dirty="0">
                <a:latin typeface="+mj-lt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D05524-74EB-48FA-8F94-9B4A5037F9B7}"/>
                </a:ext>
              </a:extLst>
            </p:cNvPr>
            <p:cNvSpPr/>
            <p:nvPr/>
          </p:nvSpPr>
          <p:spPr>
            <a:xfrm>
              <a:off x="3532237" y="2099250"/>
              <a:ext cx="2671762" cy="864000"/>
            </a:xfrm>
            <a:custGeom>
              <a:avLst/>
              <a:gdLst>
                <a:gd name="connsiteX0" fmla="*/ 0 w 2671762"/>
                <a:gd name="connsiteY0" fmla="*/ 0 h 864000"/>
                <a:gd name="connsiteX1" fmla="*/ 2239762 w 2671762"/>
                <a:gd name="connsiteY1" fmla="*/ 0 h 864000"/>
                <a:gd name="connsiteX2" fmla="*/ 2671762 w 2671762"/>
                <a:gd name="connsiteY2" fmla="*/ 432000 h 864000"/>
                <a:gd name="connsiteX3" fmla="*/ 2239762 w 2671762"/>
                <a:gd name="connsiteY3" fmla="*/ 864000 h 864000"/>
                <a:gd name="connsiteX4" fmla="*/ 0 w 2671762"/>
                <a:gd name="connsiteY4" fmla="*/ 864000 h 864000"/>
                <a:gd name="connsiteX5" fmla="*/ 432000 w 2671762"/>
                <a:gd name="connsiteY5" fmla="*/ 432000 h 864000"/>
                <a:gd name="connsiteX6" fmla="*/ 0 w 2671762"/>
                <a:gd name="connsiteY6" fmla="*/ 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1762" h="864000">
                  <a:moveTo>
                    <a:pt x="0" y="0"/>
                  </a:moveTo>
                  <a:lnTo>
                    <a:pt x="2239762" y="0"/>
                  </a:lnTo>
                  <a:lnTo>
                    <a:pt x="2671762" y="432000"/>
                  </a:lnTo>
                  <a:lnTo>
                    <a:pt x="2239762" y="864000"/>
                  </a:lnTo>
                  <a:lnTo>
                    <a:pt x="0" y="864000"/>
                  </a:lnTo>
                  <a:lnTo>
                    <a:pt x="432000" y="432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-2249913"/>
                <a:satOff val="-675"/>
                <a:lumOff val="-18888"/>
                <a:alphaOff val="0"/>
              </a:schemeClr>
            </a:fillRef>
            <a:effectRef idx="0">
              <a:schemeClr val="accent3">
                <a:hueOff val="-2249913"/>
                <a:satOff val="-675"/>
                <a:lumOff val="-1888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6008" tIns="21336" rIns="45333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>
                  <a:effectLst/>
                  <a:latin typeface="+mj-lt"/>
                </a:rPr>
                <a:t>IMAGE MODEL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46C664B-2369-426E-9034-3593CE55EAC4}"/>
                </a:ext>
              </a:extLst>
            </p:cNvPr>
            <p:cNvSpPr/>
            <p:nvPr/>
          </p:nvSpPr>
          <p:spPr>
            <a:xfrm>
              <a:off x="3507164" y="2883668"/>
              <a:ext cx="2584963" cy="1502888"/>
            </a:xfrm>
            <a:custGeom>
              <a:avLst/>
              <a:gdLst>
                <a:gd name="connsiteX0" fmla="*/ 0 w 2137410"/>
                <a:gd name="connsiteY0" fmla="*/ 0 h 1687500"/>
                <a:gd name="connsiteX1" fmla="*/ 2137410 w 2137410"/>
                <a:gd name="connsiteY1" fmla="*/ 0 h 1687500"/>
                <a:gd name="connsiteX2" fmla="*/ 2137410 w 2137410"/>
                <a:gd name="connsiteY2" fmla="*/ 1687500 h 1687500"/>
                <a:gd name="connsiteX3" fmla="*/ 0 w 2137410"/>
                <a:gd name="connsiteY3" fmla="*/ 1687500 h 1687500"/>
                <a:gd name="connsiteX4" fmla="*/ 0 w 2137410"/>
                <a:gd name="connsiteY4" fmla="*/ 0 h 16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410" h="1687500">
                  <a:moveTo>
                    <a:pt x="0" y="0"/>
                  </a:moveTo>
                  <a:lnTo>
                    <a:pt x="2137410" y="0"/>
                  </a:lnTo>
                  <a:lnTo>
                    <a:pt x="2137410" y="1687500"/>
                  </a:lnTo>
                  <a:lnTo>
                    <a:pt x="0" y="1687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432000" rIns="0" bIns="0" numCol="1" spcCol="1270" anchor="t" anchorCtr="0">
              <a:noAutofit/>
            </a:bodyPr>
            <a:lstStyle/>
            <a:p>
              <a:pPr marL="303213" lvl="1" indent="-285750" defTabSz="6223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q"/>
              </a:pPr>
              <a:r>
                <a:rPr lang="en-US" sz="1600" b="1" dirty="0">
                  <a:latin typeface="+mj-lt"/>
                </a:rPr>
                <a:t>Input Size: </a:t>
              </a:r>
              <a:r>
                <a:rPr lang="en-US" sz="1600" dirty="0">
                  <a:latin typeface="+mj-lt"/>
                </a:rPr>
                <a:t>224 × 224 Pixels</a:t>
              </a:r>
            </a:p>
            <a:p>
              <a:pPr marL="303213" lvl="1" indent="-285750" defTabSz="6223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+mj-lt"/>
                </a:rPr>
                <a:t>Pre-trained on ImageNet</a:t>
              </a:r>
            </a:p>
            <a:p>
              <a:pPr marL="303213" lvl="1" indent="-285750" defTabSz="6223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q"/>
              </a:pPr>
              <a:r>
                <a:rPr lang="en-US" sz="1600" dirty="0">
                  <a:latin typeface="+mj-lt"/>
                </a:rPr>
                <a:t>Feature extraction only</a:t>
              </a:r>
              <a:endParaRPr lang="en-US" sz="1400" kern="1200" dirty="0">
                <a:latin typeface="+mj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56DF1C2-4D45-4EAF-8C36-7FBC2FDD5F8A}"/>
                </a:ext>
              </a:extLst>
            </p:cNvPr>
            <p:cNvSpPr/>
            <p:nvPr/>
          </p:nvSpPr>
          <p:spPr>
            <a:xfrm>
              <a:off x="5987999" y="2099250"/>
              <a:ext cx="2671762" cy="864000"/>
            </a:xfrm>
            <a:custGeom>
              <a:avLst/>
              <a:gdLst>
                <a:gd name="connsiteX0" fmla="*/ 0 w 2671762"/>
                <a:gd name="connsiteY0" fmla="*/ 0 h 864000"/>
                <a:gd name="connsiteX1" fmla="*/ 2239762 w 2671762"/>
                <a:gd name="connsiteY1" fmla="*/ 0 h 864000"/>
                <a:gd name="connsiteX2" fmla="*/ 2671762 w 2671762"/>
                <a:gd name="connsiteY2" fmla="*/ 432000 h 864000"/>
                <a:gd name="connsiteX3" fmla="*/ 2239762 w 2671762"/>
                <a:gd name="connsiteY3" fmla="*/ 864000 h 864000"/>
                <a:gd name="connsiteX4" fmla="*/ 0 w 2671762"/>
                <a:gd name="connsiteY4" fmla="*/ 864000 h 864000"/>
                <a:gd name="connsiteX5" fmla="*/ 432000 w 2671762"/>
                <a:gd name="connsiteY5" fmla="*/ 432000 h 864000"/>
                <a:gd name="connsiteX6" fmla="*/ 0 w 2671762"/>
                <a:gd name="connsiteY6" fmla="*/ 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1762" h="864000">
                  <a:moveTo>
                    <a:pt x="0" y="0"/>
                  </a:moveTo>
                  <a:lnTo>
                    <a:pt x="2239762" y="0"/>
                  </a:lnTo>
                  <a:lnTo>
                    <a:pt x="2671762" y="432000"/>
                  </a:lnTo>
                  <a:lnTo>
                    <a:pt x="2239762" y="864000"/>
                  </a:lnTo>
                  <a:lnTo>
                    <a:pt x="0" y="864000"/>
                  </a:lnTo>
                  <a:lnTo>
                    <a:pt x="432000" y="432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-4499826"/>
                <a:satOff val="-1350"/>
                <a:lumOff val="-37777"/>
                <a:alphaOff val="0"/>
              </a:schemeClr>
            </a:fillRef>
            <a:effectRef idx="0">
              <a:schemeClr val="accent3">
                <a:hueOff val="-4499826"/>
                <a:satOff val="-1350"/>
                <a:lumOff val="-3777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6008" tIns="21336" rIns="45333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>
                  <a:effectLst/>
                  <a:latin typeface="+mj-lt"/>
                </a:rPr>
                <a:t>TRAINING PARAMETERS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C5C6A47-2C83-4397-AFB7-9ECD64C19A51}"/>
                </a:ext>
              </a:extLst>
            </p:cNvPr>
            <p:cNvSpPr/>
            <p:nvPr/>
          </p:nvSpPr>
          <p:spPr>
            <a:xfrm>
              <a:off x="5987999" y="3071250"/>
              <a:ext cx="2137410" cy="1687500"/>
            </a:xfrm>
            <a:custGeom>
              <a:avLst/>
              <a:gdLst>
                <a:gd name="connsiteX0" fmla="*/ 0 w 2137410"/>
                <a:gd name="connsiteY0" fmla="*/ 0 h 1687500"/>
                <a:gd name="connsiteX1" fmla="*/ 2137410 w 2137410"/>
                <a:gd name="connsiteY1" fmla="*/ 0 h 1687500"/>
                <a:gd name="connsiteX2" fmla="*/ 2137410 w 2137410"/>
                <a:gd name="connsiteY2" fmla="*/ 1687500 h 1687500"/>
                <a:gd name="connsiteX3" fmla="*/ 0 w 2137410"/>
                <a:gd name="connsiteY3" fmla="*/ 1687500 h 1687500"/>
                <a:gd name="connsiteX4" fmla="*/ 0 w 2137410"/>
                <a:gd name="connsiteY4" fmla="*/ 0 h 168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410" h="1687500">
                  <a:moveTo>
                    <a:pt x="0" y="0"/>
                  </a:moveTo>
                  <a:lnTo>
                    <a:pt x="2137410" y="0"/>
                  </a:lnTo>
                  <a:lnTo>
                    <a:pt x="2137410" y="1687500"/>
                  </a:lnTo>
                  <a:lnTo>
                    <a:pt x="0" y="1687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432000" rIns="182880" bIns="0" numCol="1" spcCol="1270" anchor="t" anchorCtr="0">
              <a:noAutofit/>
            </a:bodyPr>
            <a:lstStyle/>
            <a:p>
              <a:pPr marL="17463" lvl="1" indent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  <a:tabLst/>
              </a:pPr>
              <a:endParaRPr lang="en-US" sz="1200" kern="1200" dirty="0">
                <a:latin typeface="+mj-lt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531FB3-8761-4C62-A879-97C14461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PARAMETERS &amp; TRAINING SETUP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3C6050E-895B-4165-A3D9-120BB4006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7519" y="3006846"/>
            <a:ext cx="3941767" cy="300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j-lt"/>
              </a:rPr>
              <a:t>Optimizer: </a:t>
            </a:r>
            <a:r>
              <a:rPr lang="en-US" altLang="en-US" sz="1600" dirty="0">
                <a:latin typeface="+mj-lt"/>
              </a:rPr>
              <a:t>Adam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j-lt"/>
              </a:rPr>
              <a:t>Epochs: </a:t>
            </a:r>
            <a:r>
              <a:rPr lang="en-US" altLang="en-US" sz="1600" dirty="0">
                <a:latin typeface="+mj-lt"/>
              </a:rPr>
              <a:t>15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j-lt"/>
              </a:rPr>
              <a:t>Batch Size</a:t>
            </a:r>
            <a:r>
              <a:rPr lang="en-US" altLang="en-US" sz="1600" dirty="0">
                <a:latin typeface="+mj-lt"/>
              </a:rPr>
              <a:t>: 32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j-lt"/>
              </a:rPr>
              <a:t>Total Parameters ≈ 10.28M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j-lt"/>
              </a:rPr>
              <a:t>Loss Function</a:t>
            </a:r>
            <a:r>
              <a:rPr lang="en-US" altLang="en-US" sz="1600" dirty="0">
                <a:latin typeface="+mj-lt"/>
              </a:rPr>
              <a:t>: Sparse Categorical Cross-Entropy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j-lt"/>
              </a:rPr>
              <a:t>Regularization: </a:t>
            </a:r>
            <a:r>
              <a:rPr lang="en-US" altLang="en-US" sz="1600" dirty="0">
                <a:latin typeface="+mj-lt"/>
              </a:rPr>
              <a:t>Dropout (0.3)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+mj-lt"/>
              </a:rPr>
              <a:t>Early Stopping applied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20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8BC7-F42E-4753-97C5-473349EA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22" y="994098"/>
            <a:ext cx="4732421" cy="1276372"/>
          </a:xfrm>
        </p:spPr>
        <p:txBody>
          <a:bodyPr/>
          <a:lstStyle/>
          <a:p>
            <a:pPr algn="ctr"/>
            <a:r>
              <a:rPr lang="en-US" sz="3600" b="1" dirty="0"/>
              <a:t>LEARNING</a:t>
            </a:r>
            <a:br>
              <a:rPr lang="en-US" sz="3600" b="1" dirty="0"/>
            </a:br>
            <a:r>
              <a:rPr lang="en-US" sz="3600" b="1" dirty="0"/>
              <a:t>CURVE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0BFB8-7DB5-472B-9E21-E010CA1D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243" y="644242"/>
            <a:ext cx="6606540" cy="55695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73C283-4DE9-472E-B724-F58DFF849810}"/>
              </a:ext>
            </a:extLst>
          </p:cNvPr>
          <p:cNvSpPr/>
          <p:nvPr/>
        </p:nvSpPr>
        <p:spPr>
          <a:xfrm>
            <a:off x="667217" y="2620326"/>
            <a:ext cx="425102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Training accuracy: </a:t>
            </a:r>
            <a:r>
              <a:rPr lang="en-US" dirty="0"/>
              <a:t>High (≈0.97 → 0.88)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Validation accuracy: </a:t>
            </a:r>
            <a:r>
              <a:rPr lang="en-US" dirty="0"/>
              <a:t>Low and stable (≈0.33–0.35)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gap between training and validation curves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</a:t>
            </a:r>
            <a:r>
              <a:rPr lang="en-US" b="1" dirty="0"/>
              <a:t>overfitting</a:t>
            </a:r>
          </a:p>
        </p:txBody>
      </p:sp>
    </p:spTree>
    <p:extLst>
      <p:ext uri="{BB962C8B-B14F-4D97-AF65-F5344CB8AC3E}">
        <p14:creationId xmlns:p14="http://schemas.microsoft.com/office/powerpoint/2010/main" val="322158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8BC7-F42E-4753-97C5-473349EA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43" y="1058266"/>
            <a:ext cx="4732421" cy="1276372"/>
          </a:xfrm>
        </p:spPr>
        <p:txBody>
          <a:bodyPr/>
          <a:lstStyle/>
          <a:p>
            <a:pPr algn="ctr"/>
            <a:r>
              <a:rPr lang="en-US" sz="3600" b="1" dirty="0"/>
              <a:t>Precision-recall</a:t>
            </a:r>
            <a:br>
              <a:rPr lang="en-US" sz="3600" b="1" dirty="0"/>
            </a:br>
            <a:r>
              <a:rPr lang="en-US" sz="3600" b="1" dirty="0"/>
              <a:t>curve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6366C-B813-4869-B98C-A3931826C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663" y="647354"/>
            <a:ext cx="6519779" cy="55632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DBF1DB-73C4-4C01-8941-31EC501E87AE}"/>
              </a:ext>
            </a:extLst>
          </p:cNvPr>
          <p:cNvSpPr/>
          <p:nvPr/>
        </p:nvSpPr>
        <p:spPr>
          <a:xfrm>
            <a:off x="654385" y="2474497"/>
            <a:ext cx="41161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Precision–Recall curve is useful for imbalanced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Precision (AP):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Negative: 0.35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Neutral: 0.33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Positive: 0.36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precision across recall range</a:t>
            </a:r>
          </a:p>
        </p:txBody>
      </p:sp>
    </p:spTree>
    <p:extLst>
      <p:ext uri="{BB962C8B-B14F-4D97-AF65-F5344CB8AC3E}">
        <p14:creationId xmlns:p14="http://schemas.microsoft.com/office/powerpoint/2010/main" val="2571722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D28903-0993-4C5A-8CF5-78D40AEB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41" y="2274468"/>
            <a:ext cx="10273318" cy="269858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93D69ED-08D7-4A3B-A01D-6787D9EB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COMPARISON WITH EXISTING WORK</a:t>
            </a:r>
          </a:p>
        </p:txBody>
      </p:sp>
    </p:spTree>
    <p:extLst>
      <p:ext uri="{BB962C8B-B14F-4D97-AF65-F5344CB8AC3E}">
        <p14:creationId xmlns:p14="http://schemas.microsoft.com/office/powerpoint/2010/main" val="145545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FC1725-A155-419E-AB53-6CCA5AFB9CFC}"/>
              </a:ext>
            </a:extLst>
          </p:cNvPr>
          <p:cNvSpPr/>
          <p:nvPr/>
        </p:nvSpPr>
        <p:spPr>
          <a:xfrm>
            <a:off x="6256421" y="605589"/>
            <a:ext cx="5357704" cy="564682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36B7F2-633A-4A2E-B7D6-A1FDF6569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5640" y="1179095"/>
            <a:ext cx="2063015" cy="605589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BF25B-BDEE-4853-A332-9D68C7CB1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8296" y="2057401"/>
            <a:ext cx="5357704" cy="2720632"/>
          </a:xfrm>
        </p:spPr>
        <p:txBody>
          <a:bodyPr/>
          <a:lstStyle/>
          <a:p>
            <a:pPr marL="46863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Multimodal deep learning provides a </a:t>
            </a:r>
            <a:r>
              <a:rPr lang="en-US" b="1" dirty="0"/>
              <a:t>more robust framework</a:t>
            </a:r>
            <a:r>
              <a:rPr lang="en-US" dirty="0"/>
              <a:t> for sentiment analysis</a:t>
            </a:r>
          </a:p>
          <a:p>
            <a:pPr marL="46863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Visual context significantly enhances understanding beyond text alone</a:t>
            </a:r>
          </a:p>
          <a:p>
            <a:pPr marL="46863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Late fusion is effective but not optimal</a:t>
            </a:r>
          </a:p>
          <a:p>
            <a:pPr marL="46863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2E1C8-CACE-4233-9822-63EFBE8C8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5944" y="1048402"/>
            <a:ext cx="4639736" cy="73628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FUTURE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DE40D7-7835-45D7-95F0-1B8BE5686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21" y="2057401"/>
            <a:ext cx="5036862" cy="1856873"/>
          </a:xfrm>
        </p:spPr>
        <p:txBody>
          <a:bodyPr>
            <a:normAutofit lnSpcReduction="10000"/>
          </a:bodyPr>
          <a:lstStyle/>
          <a:p>
            <a:pPr marL="46863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Implement </a:t>
            </a:r>
            <a:r>
              <a:rPr lang="en-US" b="1" dirty="0">
                <a:solidFill>
                  <a:schemeClr val="bg2"/>
                </a:solidFill>
              </a:rPr>
              <a:t>cross-attention transformers</a:t>
            </a:r>
            <a:endParaRPr lang="en-US" dirty="0">
              <a:solidFill>
                <a:schemeClr val="bg2"/>
              </a:solidFill>
            </a:endParaRPr>
          </a:p>
          <a:p>
            <a:pPr marL="46863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Deploy real-time system using </a:t>
            </a:r>
            <a:r>
              <a:rPr lang="en-US" b="1" dirty="0">
                <a:solidFill>
                  <a:schemeClr val="bg2"/>
                </a:solidFill>
              </a:rPr>
              <a:t>Gradio or Streamlit</a:t>
            </a:r>
            <a:endParaRPr lang="en-US" dirty="0">
              <a:solidFill>
                <a:schemeClr val="bg2"/>
              </a:solidFill>
            </a:endParaRPr>
          </a:p>
          <a:p>
            <a:pPr marL="46863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2"/>
                </a:solidFill>
              </a:rPr>
              <a:t>Extend to </a:t>
            </a:r>
            <a:r>
              <a:rPr lang="en-US" b="1" dirty="0">
                <a:solidFill>
                  <a:schemeClr val="bg2"/>
                </a:solidFill>
              </a:rPr>
              <a:t>video and audio modalities</a:t>
            </a:r>
            <a:endParaRPr lang="en-US" dirty="0">
              <a:solidFill>
                <a:schemeClr val="bg2"/>
              </a:solidFill>
            </a:endParaRPr>
          </a:p>
          <a:p>
            <a:pPr marL="46863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287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5E249017-17C7-4CFB-8505-093DE0C803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8720" b="8720"/>
          <a:stretch>
            <a:fillRect/>
          </a:stretch>
        </p:blipFill>
        <p:spPr>
          <a:xfrm>
            <a:off x="635000" y="603250"/>
            <a:ext cx="109220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172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2_Win32_AS_v3" id="{A204E388-A84B-4CC6-98FC-54ED9900B3CD}" vid="{1AF041A9-EA2C-4539-9272-70AF2168FE9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A43D08-F4F9-4D95-9CB2-7DE374416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FAF7B5-E40C-46BE-9C83-DA251FCAE61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029FA76-0C86-4BF1-99F1-A3115FBFFA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494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Helvetica Neue Medium</vt:lpstr>
      <vt:lpstr>Wingdings</vt:lpstr>
      <vt:lpstr>RetrospectVTI</vt:lpstr>
      <vt:lpstr>Multimodal Sentiment Analysis</vt:lpstr>
      <vt:lpstr>Introduction</vt:lpstr>
      <vt:lpstr>PROBLEM DEFINITION</vt:lpstr>
      <vt:lpstr>Dataset</vt:lpstr>
      <vt:lpstr>EXPLORATORY DATA ANALYSIS  (EDA)</vt:lpstr>
      <vt:lpstr>CLASS DISTRIBUTION CHECK</vt:lpstr>
      <vt:lpstr>MODEL PARAMETERS &amp; TRAINING SETUP</vt:lpstr>
      <vt:lpstr>LEARNING CURVE</vt:lpstr>
      <vt:lpstr>Precision-recall curve</vt:lpstr>
      <vt:lpstr>COMPARISON WITH EXISTING 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2026-02-01T05:16:47Z</dcterms:created>
  <dcterms:modified xsi:type="dcterms:W3CDTF">2026-02-02T02:37:00Z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